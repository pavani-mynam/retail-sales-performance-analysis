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image" Target="../media/image-6-2.png"/><Relationship Id="rId13" Type="http://schemas.openxmlformats.org/officeDocument/2006/relationships/image" Target="../media/image-6-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4.png"/><Relationship Id="rId17" Type="http://schemas.openxmlformats.org/officeDocument/2006/relationships/image" Target="../media/image-6-15.svg"/><Relationship Id="rId18" Type="http://schemas.openxmlformats.org/officeDocument/2006/relationships/image" Target="../media/image-6-14.png"/><Relationship Id="rId19" Type="http://schemas.openxmlformats.org/officeDocument/2006/relationships/image" Target="../media/image-6-15.svg"/><Relationship Id="rId20" Type="http://schemas.openxmlformats.org/officeDocument/2006/relationships/image" Target="../media/image-6-14.png"/><Relationship Id="rId21" Type="http://schemas.openxmlformats.org/officeDocument/2006/relationships/image" Target="../media/image-6-15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9.png"/><Relationship Id="rId16" Type="http://schemas.openxmlformats.org/officeDocument/2006/relationships/image" Target="../media/image-7-10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pavani-mynam-303b7a280/" TargetMode="External"/><Relationship Id="rId2" Type="http://schemas.openxmlformats.org/officeDocument/2006/relationships/hyperlink" Target="https://github.com/PAVANI-MYNAM-github" TargetMode="External"/><Relationship Id="rId3" Type="http://schemas.openxmlformats.org/officeDocument/2006/relationships/hyperlink" Target="mailto:mynammynampavani2854@gmail.com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856581"/>
            <a:ext cx="361732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4879" y="1913235"/>
            <a:ext cx="40001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 · RETAIL ANALYTICS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2193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Retail Sales Performance Analysis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684091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Business Intelligence Dashboard · 2014–2017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Pavani Mynam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714180"/>
            <a:ext cx="114207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774879" y="4770834"/>
            <a:ext cx="15248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98007" y="4714180"/>
            <a:ext cx="95783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10" name="Text 7"/>
          <p:cNvSpPr/>
          <p:nvPr/>
        </p:nvSpPr>
        <p:spPr>
          <a:xfrm>
            <a:off x="2011411" y="4770834"/>
            <a:ext cx="13406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50295" y="4714180"/>
            <a:ext cx="538050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12" name="Text 9"/>
          <p:cNvSpPr/>
          <p:nvPr/>
        </p:nvSpPr>
        <p:spPr>
          <a:xfrm>
            <a:off x="3063699" y="4770834"/>
            <a:ext cx="9208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582799" y="4714180"/>
            <a:ext cx="1333367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14" name="Text 11"/>
          <p:cNvSpPr/>
          <p:nvPr/>
        </p:nvSpPr>
        <p:spPr>
          <a:xfrm>
            <a:off x="3696203" y="4770834"/>
            <a:ext cx="17161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10620" y="4714180"/>
            <a:ext cx="1458082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16" name="Text 13"/>
          <p:cNvSpPr/>
          <p:nvPr/>
        </p:nvSpPr>
        <p:spPr>
          <a:xfrm>
            <a:off x="5124024" y="4770834"/>
            <a:ext cx="18408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447"/>
            <a:ext cx="1684692" cy="278110"/>
          </a:xfrm>
          <a:prstGeom prst="roundRect">
            <a:avLst>
              <a:gd name="adj" fmla="val 2212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1307" y="582315"/>
            <a:ext cx="207461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7649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Challenge &amp; Strategic Objectives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3301504"/>
            <a:ext cx="4758412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organisations generate thousands of transactions across products, customers, and regions. Without centralised reporting, executives struggle to monitor performance and identify profitable opportunities.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909" y="1914227"/>
            <a:ext cx="5663562" cy="3191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06941" y="2190788"/>
            <a:ext cx="1048943" cy="15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Monitoring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06941" y="2392351"/>
            <a:ext cx="1048943" cy="24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transactions and trends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358936" y="2190788"/>
            <a:ext cx="1043363" cy="31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Profitability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358936" y="2549278"/>
            <a:ext cx="1043363" cy="24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margins by region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46084" y="4213226"/>
            <a:ext cx="1009886" cy="31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Behaviour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46084" y="4571716"/>
            <a:ext cx="1009886" cy="24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buying patterns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325459" y="4213226"/>
            <a:ext cx="1076841" cy="31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Performance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325459" y="4571716"/>
            <a:ext cx="1076841" cy="24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SKU-level results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72909" y="5305524"/>
            <a:ext cx="566356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objective adds a different lens on performance, helping leadership turn fragmented data into a unified view of the business.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539"/>
            <a:ext cx="1314318" cy="192980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7673" y="604639"/>
            <a:ext cx="1771506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93651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 &amp; Solution Architecture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4463"/>
            <a:ext cx="2973313" cy="2973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5074" y="2423815"/>
            <a:ext cx="3564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Data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95074" y="2707580"/>
            <a:ext cx="3564642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CSV data was ingested into SQL Server, transformed via Power Query, modelled into a star schema, and surfaced through SQL views — powering interactive Power BI dashboards for executive reporting.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175819" y="1395313"/>
            <a:ext cx="197658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4579739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61475" y="4776589"/>
            <a:ext cx="356603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4878189"/>
            <a:ext cx="35660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CSV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127823"/>
            <a:ext cx="356603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files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12832" y="4579739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12832" y="4776589"/>
            <a:ext cx="356603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4312832" y="4878189"/>
            <a:ext cx="35660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Server Ingestion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12832" y="5127823"/>
            <a:ext cx="356603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Centralised loading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964189" y="4579739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964189" y="4776589"/>
            <a:ext cx="356603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7964189" y="4878189"/>
            <a:ext cx="35660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Query Transformation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64189" y="5127823"/>
            <a:ext cx="356603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and reshaped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61475" y="5478264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61475" y="5675114"/>
            <a:ext cx="539171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661475" y="5776714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 Schema Modeling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1475" y="6026348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for reporting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138510" y="5478264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38510" y="5675114"/>
            <a:ext cx="539171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4"/>
          <p:cNvSpPr/>
          <p:nvPr/>
        </p:nvSpPr>
        <p:spPr>
          <a:xfrm>
            <a:off x="6138510" y="5776714"/>
            <a:ext cx="5391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38510" y="6026348"/>
            <a:ext cx="53917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reporting output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690"/>
            <a:ext cx="990774" cy="224334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0075" y="578941"/>
            <a:ext cx="1423158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0516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Overview — Business at a Glance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69442"/>
            <a:ext cx="5254295" cy="3990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82275" y="2153146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36259" y="2307134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36259" y="2653109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$2.30M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sales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967067" y="2153146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21051" y="2307134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Profit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21051" y="2653109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$286.4K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12.47% margin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82275" y="3132733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6259" y="3286720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 Margin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36259" y="3632696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12.47%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revenue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67067" y="3132733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21051" y="3286720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121051" y="3632696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5,009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orders processed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82275" y="4112320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6259" y="4266307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Order Value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36259" y="4612283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$458.61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order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67067" y="4112320"/>
            <a:ext cx="2569503" cy="864295"/>
          </a:xfrm>
          <a:prstGeom prst="roundRect">
            <a:avLst>
              <a:gd name="adj" fmla="val 71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21051" y="4266307"/>
            <a:ext cx="22615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Quantity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121051" y="4612283"/>
            <a:ext cx="22615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37,873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units sold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1475" y="5819973"/>
            <a:ext cx="10868745" cy="503238"/>
          </a:xfrm>
          <a:prstGeom prst="roundRect">
            <a:avLst>
              <a:gd name="adj" fmla="val 12325"/>
            </a:avLst>
          </a:prstGeom>
          <a:solidFill>
            <a:srgbClr val="DADBF1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9" y="6015038"/>
            <a:ext cx="184542" cy="14763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1285" y="5972175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West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led revenue;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topped categories at $636K.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7595"/>
            <a:ext cx="811688" cy="179487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2315" y="633016"/>
            <a:ext cx="1279592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06549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&amp; Product Analysis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6913"/>
            <a:ext cx="4667034" cy="29677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77633" y="1369516"/>
            <a:ext cx="3058937" cy="827088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08400" y="1500287"/>
            <a:ext cx="279740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Customers 793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08400" y="1758652"/>
            <a:ext cx="279740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customers in the dashboard dataset.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477633" y="2270423"/>
            <a:ext cx="3058937" cy="827088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8400" y="2401193"/>
            <a:ext cx="279740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Products 1,890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08400" y="2659559"/>
            <a:ext cx="279740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products in the dashboard dataset.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77633" y="3171329"/>
            <a:ext cx="3058937" cy="673497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08400" y="3302099"/>
            <a:ext cx="279740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Order Value $458.61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08400" y="3560465"/>
            <a:ext cx="279740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revenue per order across the dashboard.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77633" y="3918645"/>
            <a:ext cx="3058937" cy="673497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08400" y="4049415"/>
            <a:ext cx="2797403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Quantity 7.56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608400" y="4307780"/>
            <a:ext cx="279740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units per order across the dashboard.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1475" y="4758234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1475" y="4946253"/>
            <a:ext cx="3573671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030688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Segment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61475" y="5259487"/>
            <a:ext cx="357367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Consumer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contributes 48.5% of revenue, the largest segment.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08963" y="4758234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08963" y="4946253"/>
            <a:ext cx="3573671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21"/>
          <p:cNvSpPr/>
          <p:nvPr/>
        </p:nvSpPr>
        <p:spPr>
          <a:xfrm>
            <a:off x="4308963" y="5030688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Corporate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308963" y="5259487"/>
            <a:ext cx="357367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contributes 32.5% of revenue.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956450" y="4758234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956450" y="4946253"/>
            <a:ext cx="3573671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8" name="Text 25"/>
          <p:cNvSpPr/>
          <p:nvPr/>
        </p:nvSpPr>
        <p:spPr>
          <a:xfrm>
            <a:off x="7956450" y="5030688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 Office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956450" y="5259487"/>
            <a:ext cx="357367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Office contributes 19% of revenue.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61475" y="5612408"/>
            <a:ext cx="1086874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1475" y="5907683"/>
            <a:ext cx="10868745" cy="352723"/>
          </a:xfrm>
          <a:prstGeom prst="roundRect">
            <a:avLst>
              <a:gd name="adj" fmla="val 14067"/>
            </a:avLst>
          </a:prstGeom>
          <a:solidFill>
            <a:srgbClr val="DADBF1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2" y="6059785"/>
            <a:ext cx="147634" cy="11807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045243" y="6010970"/>
            <a:ext cx="109764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is the largest revenue driver at 48.5%, replacing the earlier 50%+ estimate. Sean Miller is the top customer, and Canon imageCLASS 2480 is the top product by revenue.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458"/>
            <a:ext cx="832921" cy="183952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4101" y="587772"/>
            <a:ext cx="1297253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66366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Profitability Analysis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48184"/>
            <a:ext cx="4419688" cy="311199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831" y="2172395"/>
            <a:ext cx="1710588" cy="6930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373" y="2306141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434373" y="2572841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$286.4K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7907" y="2172395"/>
            <a:ext cx="1710588" cy="6930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2449" y="2306141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222449" y="2572841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12.47%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982" y="2172395"/>
            <a:ext cx="1710588" cy="6930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10525" y="2306141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Discount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010525" y="2572841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15.6%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9831" y="2942927"/>
            <a:ext cx="1710588" cy="6930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34373" y="3076674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Quantity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434373" y="3343374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7.56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7907" y="2942927"/>
            <a:ext cx="1710588" cy="6930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2449" y="3076674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Ship Modes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8222449" y="3343374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982" y="2942927"/>
            <a:ext cx="1710588" cy="69304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10525" y="3076674"/>
            <a:ext cx="13923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10010525" y="3343374"/>
            <a:ext cx="139230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5009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661475" y="4663678"/>
            <a:ext cx="10868745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1475" y="5006975"/>
            <a:ext cx="2658996" cy="12994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900190" y="5084564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795218" y="5460405"/>
            <a:ext cx="239150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Profit Leader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795218" y="5696148"/>
            <a:ext cx="2391509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West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leads with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$98.1K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profit, followed by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East ($87K)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South ($67K)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 ($34K)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97959" y="5006975"/>
            <a:ext cx="2659095" cy="12994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636674" y="5084564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3531702" y="5460405"/>
            <a:ext cx="23916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Performance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3531702" y="5696148"/>
            <a:ext cx="2391608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Class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delivers the strongest profit contribution across shipping modes.</a:t>
            </a:r>
            <a:endParaRPr lang="en-US" sz="9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34542" y="5006975"/>
            <a:ext cx="2659095" cy="12994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373257" y="5084564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23"/>
          <p:cNvSpPr/>
          <p:nvPr/>
        </p:nvSpPr>
        <p:spPr>
          <a:xfrm>
            <a:off x="6268285" y="5460405"/>
            <a:ext cx="23916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Loss-Making Products</a:t>
            </a:r>
            <a:endParaRPr lang="en-US" sz="1150" dirty="0"/>
          </a:p>
        </p:txBody>
      </p:sp>
      <p:sp>
        <p:nvSpPr>
          <p:cNvPr id="36" name="Text 24"/>
          <p:cNvSpPr/>
          <p:nvPr/>
        </p:nvSpPr>
        <p:spPr>
          <a:xfrm>
            <a:off x="6268285" y="5696148"/>
            <a:ext cx="2391608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loss-making products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 where pricing and inventory review should be prioritized.</a:t>
            </a:r>
            <a:endParaRPr lang="en-US" sz="9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71125" y="5006975"/>
            <a:ext cx="2659095" cy="12994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109840" y="5084564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004868" y="5460405"/>
            <a:ext cx="23916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Variation by Region</a:t>
            </a:r>
            <a:endParaRPr lang="en-US" sz="1150" dirty="0"/>
          </a:p>
        </p:txBody>
      </p:sp>
      <p:sp>
        <p:nvSpPr>
          <p:cNvPr id="40" name="Text 27"/>
          <p:cNvSpPr/>
          <p:nvPr/>
        </p:nvSpPr>
        <p:spPr>
          <a:xfrm>
            <a:off x="9004868" y="5696148"/>
            <a:ext cx="2391608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levels vary by region, suggesting uneven margin pressure that should be monitored closely.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6377"/>
            <a:ext cx="1731324" cy="237827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583307"/>
            <a:ext cx="215319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5996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</a:t>
            </a:r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Eight Analytical Lenses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509514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eight lenses as a structured framework to understand performance, identify patterns, and surface opportunities across the business.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84164"/>
            <a:ext cx="2620004" cy="2276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54054" y="198804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6988" y="2502396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Revenue Trend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6988" y="2824659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how revenue moves over time and spot seasonality, momentum, or sudden shifts.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1055" y="1884164"/>
            <a:ext cx="2620004" cy="22761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3635" y="198804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86569" y="2502396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 Trend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6569" y="2824659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whether profitability is improving, flattening, or slipping—and where the pressure is building.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636" y="1884164"/>
            <a:ext cx="2620004" cy="22761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53215" y="198804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36149" y="2502396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Performance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36149" y="2824659"/>
            <a:ext cx="226897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how each region contributes to growth, profit, and overall business health.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0216" y="1884164"/>
            <a:ext cx="2620004" cy="227617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02796" y="198804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085730" y="2502396"/>
            <a:ext cx="2268977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85730" y="3069233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customers into meaningful groups to uncover different behaviors, needs, and value.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89921"/>
            <a:ext cx="2620004" cy="20316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54054" y="439380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836988" y="4908153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Performance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36988" y="5230416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products driving results, the laggards, and the biggest opportunities to improve.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11055" y="4289921"/>
            <a:ext cx="2620004" cy="20316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03635" y="439380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3586569" y="4908153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Analysis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3586569" y="5230416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shipping modes and timelines to find the best balance of speed, cost, and profit.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0636" y="4289921"/>
            <a:ext cx="2620004" cy="203160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353215" y="439380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6336149" y="4908153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Analysis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6336149" y="5230416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discounts affect demand and margins across products, regions, and segments.</a:t>
            </a:r>
            <a:endParaRPr lang="en-US" sz="12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10216" y="4289921"/>
            <a:ext cx="2620004" cy="203160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102796" y="439380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26"/>
          <p:cNvSpPr/>
          <p:nvPr/>
        </p:nvSpPr>
        <p:spPr>
          <a:xfrm>
            <a:off x="9085730" y="4908153"/>
            <a:ext cx="22689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Loss-Making Products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9085730" y="5230416"/>
            <a:ext cx="22689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products that consistently underperform so pricing, costs, or inventory can be reviewed.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555"/>
            <a:ext cx="1056951" cy="237827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611485"/>
            <a:ext cx="1478818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5417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Six Executive KPIs — Performance Snapshot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537692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glance, these metrics highlight revenue scale, profitability, order activity, customer value, and the strongest-performing segments.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912342"/>
            <a:ext cx="33758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234605"/>
            <a:ext cx="3375834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$2.30M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661475" y="2987278"/>
            <a:ext cx="33758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regions and categories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1088" y="2735362"/>
            <a:ext cx="234150" cy="234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54287" y="1912342"/>
            <a:ext cx="337593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 Margin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54287" y="2234605"/>
            <a:ext cx="3375933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12.47%</a:t>
            </a:r>
            <a:endParaRPr lang="en-US" sz="4250" dirty="0"/>
          </a:p>
        </p:txBody>
      </p:sp>
      <p:sp>
        <p:nvSpPr>
          <p:cNvPr id="13" name="Text 9"/>
          <p:cNvSpPr/>
          <p:nvPr/>
        </p:nvSpPr>
        <p:spPr>
          <a:xfrm>
            <a:off x="8154287" y="2987278"/>
            <a:ext cx="33759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margin on total sales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2727" y="2964259"/>
            <a:ext cx="234150" cy="2341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10851" y="3450927"/>
            <a:ext cx="321936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310851" y="3773190"/>
            <a:ext cx="3219369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5,009</a:t>
            </a:r>
            <a:endParaRPr lang="en-US" sz="4250" dirty="0"/>
          </a:p>
        </p:txBody>
      </p:sp>
      <p:sp>
        <p:nvSpPr>
          <p:cNvPr id="18" name="Text 12"/>
          <p:cNvSpPr/>
          <p:nvPr/>
        </p:nvSpPr>
        <p:spPr>
          <a:xfrm>
            <a:off x="8310851" y="4525863"/>
            <a:ext cx="32193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completed orders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90312" y="4214614"/>
            <a:ext cx="234150" cy="2341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54287" y="4989513"/>
            <a:ext cx="337593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Order Value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8154287" y="5311775"/>
            <a:ext cx="3375933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$458.61</a:t>
            </a:r>
            <a:endParaRPr lang="en-US" sz="4250" dirty="0"/>
          </a:p>
        </p:txBody>
      </p:sp>
      <p:sp>
        <p:nvSpPr>
          <p:cNvPr id="23" name="Text 15"/>
          <p:cNvSpPr/>
          <p:nvPr/>
        </p:nvSpPr>
        <p:spPr>
          <a:xfrm>
            <a:off x="8154287" y="6064448"/>
            <a:ext cx="33759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revenue per order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6259" y="5236071"/>
            <a:ext cx="234150" cy="23415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1475" y="4989513"/>
            <a:ext cx="33758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Customers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661475" y="5311775"/>
            <a:ext cx="3375834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793</a:t>
            </a:r>
            <a:endParaRPr lang="en-US" sz="4250" dirty="0"/>
          </a:p>
        </p:txBody>
      </p:sp>
      <p:sp>
        <p:nvSpPr>
          <p:cNvPr id="28" name="Text 18"/>
          <p:cNvSpPr/>
          <p:nvPr/>
        </p:nvSpPr>
        <p:spPr>
          <a:xfrm>
            <a:off x="661475" y="6064448"/>
            <a:ext cx="33758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customers served</a:t>
            </a:r>
            <a:endParaRPr lang="en-US" sz="12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24619" y="5007173"/>
            <a:ext cx="234150" cy="23415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1475" y="3450927"/>
            <a:ext cx="321927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Region</a:t>
            </a:r>
            <a:endParaRPr lang="en-US" sz="1500" dirty="0"/>
          </a:p>
        </p:txBody>
      </p:sp>
      <p:sp>
        <p:nvSpPr>
          <p:cNvPr id="32" name="Text 20"/>
          <p:cNvSpPr/>
          <p:nvPr/>
        </p:nvSpPr>
        <p:spPr>
          <a:xfrm>
            <a:off x="661475" y="3773190"/>
            <a:ext cx="3219270" cy="67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West</a:t>
            </a:r>
            <a:endParaRPr lang="en-US" sz="4250" dirty="0"/>
          </a:p>
        </p:txBody>
      </p:sp>
      <p:sp>
        <p:nvSpPr>
          <p:cNvPr id="33" name="Text 21"/>
          <p:cNvSpPr/>
          <p:nvPr/>
        </p:nvSpPr>
        <p:spPr>
          <a:xfrm>
            <a:off x="661475" y="4525863"/>
            <a:ext cx="321927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revenue and profit</a:t>
            </a:r>
            <a:endParaRPr lang="en-US" sz="12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3772" y="2200771"/>
            <a:ext cx="3804051" cy="3804146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7034" y="3756819"/>
            <a:ext cx="234150" cy="2341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935"/>
            <a:ext cx="1018455" cy="156865"/>
          </a:xfrm>
          <a:prstGeom prst="roundRect">
            <a:avLst>
              <a:gd name="adj" fmla="val 2214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23485" y="559891"/>
            <a:ext cx="1504019" cy="9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ROADMAP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08323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&amp; Business Impact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79612"/>
            <a:ext cx="5085826" cy="50859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5858" y="2382838"/>
            <a:ext cx="553061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Business Impact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05858" y="2607766"/>
            <a:ext cx="2737079" cy="820837"/>
          </a:xfrm>
          <a:prstGeom prst="roundRect">
            <a:avLst>
              <a:gd name="adj" fmla="val 528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15492" y="2717403"/>
            <a:ext cx="25178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Smarter Discounting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15492" y="2935288"/>
            <a:ext cx="2517811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margin erosion by tightening discount discipline and optimizing pricing by region to protect profitability.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799392" y="2607766"/>
            <a:ext cx="2737079" cy="820837"/>
          </a:xfrm>
          <a:prstGeom prst="roundRect">
            <a:avLst>
              <a:gd name="adj" fmla="val 528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09026" y="2717403"/>
            <a:ext cx="25178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Margin Lift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09026" y="2935288"/>
            <a:ext cx="2517811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profitability in underperforming regions like Central and East by applying the strongest pricing and sales practices.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005858" y="3485059"/>
            <a:ext cx="2737079" cy="820837"/>
          </a:xfrm>
          <a:prstGeom prst="roundRect">
            <a:avLst>
              <a:gd name="adj" fmla="val 528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15492" y="3594695"/>
            <a:ext cx="25178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Product Mix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15492" y="3812580"/>
            <a:ext cx="2517811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demand and sales effort toward high-margin Technology products to raise revenue quality and improve return on effort.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799392" y="3485059"/>
            <a:ext cx="2737079" cy="820837"/>
          </a:xfrm>
          <a:prstGeom prst="roundRect">
            <a:avLst>
              <a:gd name="adj" fmla="val 528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09026" y="3594695"/>
            <a:ext cx="25178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Losses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09026" y="3812580"/>
            <a:ext cx="2517811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or reprice loss-making SKUs to remove unprofitable activity and reduce drag on overall performance.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05858" y="4362351"/>
            <a:ext cx="5530612" cy="692944"/>
          </a:xfrm>
          <a:prstGeom prst="roundRect">
            <a:avLst>
              <a:gd name="adj" fmla="val 62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15492" y="4471987"/>
            <a:ext cx="531134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Profitability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15492" y="4689872"/>
            <a:ext cx="5311344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overall profit margin from 12.47% toward target levels through better pricing, mix, and regional execution.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0147"/>
            <a:ext cx="174650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96801"/>
            <a:ext cx="21292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2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Skills &amp; Project Highlights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77700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197237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38105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· SQL Views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177700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2716" y="197237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Intelligence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42716" y="238105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· Power Query · DAX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177700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197237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8600" y="238105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Modelling · EDA · KPI Development · Dashboard 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348833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4900" dirty="0"/>
          </a:p>
        </p:txBody>
      </p:sp>
      <p:sp>
        <p:nvSpPr>
          <p:cNvPr id="15" name="Text 13"/>
          <p:cNvSpPr/>
          <p:nvPr/>
        </p:nvSpPr>
        <p:spPr>
          <a:xfrm>
            <a:off x="661475" y="434826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Dashboards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4363135" y="348833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15+</a:t>
            </a:r>
            <a:endParaRPr lang="en-US" sz="4900" dirty="0"/>
          </a:p>
        </p:txBody>
      </p:sp>
      <p:sp>
        <p:nvSpPr>
          <p:cNvPr id="17" name="Text 15"/>
          <p:cNvSpPr/>
          <p:nvPr/>
        </p:nvSpPr>
        <p:spPr>
          <a:xfrm>
            <a:off x="4363135" y="434826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KPIs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064794" y="348833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4900" dirty="0"/>
          </a:p>
        </p:txBody>
      </p:sp>
      <p:sp>
        <p:nvSpPr>
          <p:cNvPr id="19" name="Text 17"/>
          <p:cNvSpPr/>
          <p:nvPr/>
        </p:nvSpPr>
        <p:spPr>
          <a:xfrm>
            <a:off x="8064794" y="434826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 Schema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661475" y="4903391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25948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2950" dirty="0"/>
          </a:p>
        </p:txBody>
      </p:sp>
      <p:sp>
        <p:nvSpPr>
          <p:cNvPr id="22" name="Text 20"/>
          <p:cNvSpPr/>
          <p:nvPr/>
        </p:nvSpPr>
        <p:spPr>
          <a:xfrm>
            <a:off x="661475" y="60154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Pavani Mynam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2026-07-09T16:19:44Z</dcterms:created>
  <dcterms:modified xsi:type="dcterms:W3CDTF">2026-07-09T16:19:44Z</dcterms:modified>
</cp:coreProperties>
</file>